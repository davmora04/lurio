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rio_v2_assets/hero_architecture_hero_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pic>
        <p:nvPicPr>
          <p:cNvPr id="4" name="Image 1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82880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ENTRY &amp; EXPANSION ADVISORY · COLOMBIA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685800" y="2084832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your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moving.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85800" y="4617720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expansion support from decision to coordinated local execution.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5376672"/>
            <a:ext cx="640080" cy="0"/>
          </a:xfrm>
          <a:prstGeom prst="line">
            <a:avLst/>
          </a:prstGeom>
          <a:noFill/>
          <a:ln w="13970">
            <a:solidFill>
              <a:srgbClr val="5B3F8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10" name="Shape 6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PROBLEM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71323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Entering Colombia often becomes fragmented.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1645920"/>
            <a:ext cx="4663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local specialists give partial answers. HQ needs one coherent view of risk, timing, cost and decisions. The hard part is making the pieces work together around one business objective.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46520" y="1005840"/>
            <a:ext cx="4663440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E3DA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325880"/>
            <a:ext cx="1508760" cy="502920"/>
          </a:xfrm>
          <a:prstGeom prst="rect">
            <a:avLst/>
          </a:prstGeom>
          <a:solidFill>
            <a:srgbClr val="F4EDE6"/>
          </a:solidFill>
          <a:ln w="5080">
            <a:solidFill>
              <a:srgbClr val="E7DD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94576" y="148132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235440" y="1325880"/>
            <a:ext cx="1508760" cy="502920"/>
          </a:xfrm>
          <a:prstGeom prst="rect">
            <a:avLst/>
          </a:prstGeom>
          <a:solidFill>
            <a:srgbClr val="F4EDE6"/>
          </a:solidFill>
          <a:ln w="5080">
            <a:solidFill>
              <a:srgbClr val="E7DD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63456" y="148132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2331720"/>
            <a:ext cx="1508760" cy="502920"/>
          </a:xfrm>
          <a:prstGeom prst="rect">
            <a:avLst/>
          </a:prstGeom>
          <a:solidFill>
            <a:srgbClr val="F4EDE6"/>
          </a:solidFill>
          <a:ln w="5080">
            <a:solidFill>
              <a:srgbClr val="E7DD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94576" y="248716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235440" y="2331720"/>
            <a:ext cx="1508760" cy="502920"/>
          </a:xfrm>
          <a:prstGeom prst="rect">
            <a:avLst/>
          </a:prstGeom>
          <a:solidFill>
            <a:srgbClr val="F4EDE6"/>
          </a:solidFill>
          <a:ln w="5080">
            <a:solidFill>
              <a:srgbClr val="E7DD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63456" y="248716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66560" y="3337560"/>
            <a:ext cx="1508760" cy="502920"/>
          </a:xfrm>
          <a:prstGeom prst="rect">
            <a:avLst/>
          </a:prstGeom>
          <a:solidFill>
            <a:srgbClr val="F4EDE6"/>
          </a:solidFill>
          <a:ln w="5080">
            <a:solidFill>
              <a:srgbClr val="E7DD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94576" y="34930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235440" y="3337560"/>
            <a:ext cx="1508760" cy="502920"/>
          </a:xfrm>
          <a:prstGeom prst="rect">
            <a:avLst/>
          </a:prstGeom>
          <a:solidFill>
            <a:srgbClr val="F4EDE6"/>
          </a:solidFill>
          <a:ln w="5080">
            <a:solidFill>
              <a:srgbClr val="E7DD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63456" y="34930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4526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3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expansion objective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 IN ONE LINE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1078992"/>
            <a:ext cx="8138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Lurio is the client-side expansion partner that helps international companies turn market-entry decisions into coordinated local execution.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85800" y="3703320"/>
            <a:ext cx="3246120" cy="1417320"/>
          </a:xfrm>
          <a:prstGeom prst="rect">
            <a:avLst/>
          </a:prstGeom>
          <a:solidFill>
            <a:srgbClr val="F4EDE6"/>
          </a:solidFill>
          <a:ln w="5080">
            <a:solidFill>
              <a:srgbClr val="E9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3544" y="3959352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Client-side perspective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23544" y="4562856"/>
            <a:ext cx="277063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your business objective — not a provider service catalog.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89120" y="3703320"/>
            <a:ext cx="3246120" cy="1417320"/>
          </a:xfrm>
          <a:prstGeom prst="rect">
            <a:avLst/>
          </a:prstGeom>
          <a:solidFill>
            <a:srgbClr val="0B1224"/>
          </a:solidFill>
          <a:ln w="5080">
            <a:solidFill>
              <a:srgbClr val="0B12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26864" y="3959352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ecosystem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26864" y="4562856"/>
            <a:ext cx="277063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advisors, ours, or both.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92440" y="3703320"/>
            <a:ext cx="3246120" cy="1417320"/>
          </a:xfrm>
          <a:prstGeom prst="rect">
            <a:avLst/>
          </a:prstGeom>
          <a:solidFill>
            <a:srgbClr val="F4EDE6"/>
          </a:solidFill>
          <a:ln w="5080">
            <a:solidFill>
              <a:srgbClr val="E9E1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0184" y="3959352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accountability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0184" y="4562856"/>
            <a:ext cx="277063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local workstreams moving while management stays informed.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LURIO DIFFERENT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71323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expansion. One business objective. The right specialists.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828800"/>
            <a:ext cx="4983480" cy="1508760"/>
          </a:xfrm>
          <a:prstGeom prst="rect">
            <a:avLst/>
          </a:prstGeom>
          <a:solidFill>
            <a:srgbClr val="FBF7F1"/>
          </a:solidFill>
          <a:ln w="5080">
            <a:solidFill>
              <a:srgbClr val="E5DDD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3544" y="20574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923544" y="2331720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your business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23544" y="2816352"/>
            <a:ext cx="4507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entry model follows how you sell, contract, hire, operate and grow.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" y="3977640"/>
            <a:ext cx="4983480" cy="1508760"/>
          </a:xfrm>
          <a:prstGeom prst="rect">
            <a:avLst/>
          </a:prstGeom>
          <a:solidFill>
            <a:srgbClr val="FBF7F1"/>
          </a:solidFill>
          <a:ln w="5080">
            <a:solidFill>
              <a:srgbClr val="E5DD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" y="4206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923544" y="4480560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ecosystem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23544" y="4965192"/>
            <a:ext cx="4507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existing advisors, Lurio’s ecosystem, or a combination of both.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828800"/>
            <a:ext cx="4983480" cy="1508760"/>
          </a:xfrm>
          <a:prstGeom prst="rect">
            <a:avLst/>
          </a:prstGeom>
          <a:solidFill>
            <a:srgbClr val="FBF7F1"/>
          </a:solidFill>
          <a:ln w="5080">
            <a:solidFill>
              <a:srgbClr val="E5DD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47104" y="20574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547104" y="2331720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translation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47104" y="2816352"/>
            <a:ext cx="4507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advice becomes business implications, decisions and next steps.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09360" y="3977640"/>
            <a:ext cx="4983480" cy="1508760"/>
          </a:xfrm>
          <a:prstGeom prst="rect">
            <a:avLst/>
          </a:prstGeom>
          <a:solidFill>
            <a:srgbClr val="FBF7F1"/>
          </a:solidFill>
          <a:ln w="5080">
            <a:solidFill>
              <a:srgbClr val="E5DD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47104" y="4206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547104" y="4480560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recommendation to momentum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47104" y="4965192"/>
            <a:ext cx="4507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stay close to execution, coordinate workstreams and surface roadblocks.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LURIO HELPS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713232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market-entry decision to local execution.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2331720"/>
            <a:ext cx="233172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E4D8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" y="2532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86968" y="3044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86968" y="3776472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options and roadmap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74720" y="2331720"/>
            <a:ext cx="233172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E4D8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75888" y="2532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75888" y="3044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75888" y="3776472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and specialist alignment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63640" y="2331720"/>
            <a:ext cx="233172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E4D8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2532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64808" y="3044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64808" y="3776472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moving toward execution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052560" y="2331720"/>
            <a:ext cx="233172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E4D8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53728" y="2532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253728" y="3044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&amp; Expand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253728" y="3776472"/>
            <a:ext cx="1874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advisory and local support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5800" y="52578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is flexible. Clients may enter at different stages depending on what is already clear and what still needs to be structured.</a:t>
            </a:r>
            <a:endParaRPr lang="en-US" sz="1130" dirty="0"/>
          </a:p>
        </p:txBody>
      </p:sp>
      <p:sp>
        <p:nvSpPr>
          <p:cNvPr id="22" name="Text 19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FIRST ENGAGEMENT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71323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Colombia Market Entry Assessment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49377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as the bridge from initial market-entry decision to practical launch roadmap — not as a standalone research report.</a:t>
            </a:r>
            <a:endParaRPr lang="en-US" sz="1200" dirty="0"/>
          </a:p>
        </p:txBody>
      </p:sp>
      <p:pic>
        <p:nvPicPr>
          <p:cNvPr id="6" name="Image 1" descr="/mnt/data/lurio_v2_assets/abstract_curves_w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822960"/>
            <a:ext cx="429768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3246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entry model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" y="3593592"/>
            <a:ext cx="4251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structure and sequence best fits the operating objective.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943600" y="3246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 local workstreams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943600" y="3593592"/>
            <a:ext cx="4251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tax, accounting, banking, people, immigration and other dependencies.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" y="4480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needs and dependencies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85800" y="4828032"/>
            <a:ext cx="4251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to be involved, when and why.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943600" y="4480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roadmap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43600" y="4828032"/>
            <a:ext cx="4251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decisions, timeline, risks and launch actions.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16" name="Shape 12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rever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89D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STYLE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82296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keep</a:t>
            </a:r>
            <a:endParaRPr lang="en-US" sz="3100" dirty="0"/>
          </a:p>
          <a:p>
            <a:pPr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moving.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1051560" y="2788920"/>
            <a:ext cx="621792" cy="621792"/>
          </a:xfrm>
          <a:prstGeom prst="ellipse">
            <a:avLst/>
          </a:prstGeom>
          <a:solidFill>
            <a:srgbClr val="0B1224"/>
          </a:solidFill>
          <a:ln w="10160">
            <a:solidFill>
              <a:srgbClr val="A89DB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299008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" y="4187952"/>
            <a:ext cx="2377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AD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objective, constraints and decision-makers.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3749040" y="2788920"/>
            <a:ext cx="621792" cy="621792"/>
          </a:xfrm>
          <a:prstGeom prst="ellipse">
            <a:avLst/>
          </a:prstGeom>
          <a:solidFill>
            <a:srgbClr val="5B3F8C"/>
          </a:solidFill>
          <a:ln w="10160">
            <a:solidFill>
              <a:srgbClr val="5B3F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299008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4612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880360" y="4187952"/>
            <a:ext cx="2377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AD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workstreams, owners, dependencies and specialist needs.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6446520" y="2788920"/>
            <a:ext cx="621792" cy="621792"/>
          </a:xfrm>
          <a:prstGeom prst="ellipse">
            <a:avLst/>
          </a:prstGeom>
          <a:solidFill>
            <a:srgbClr val="0B1224"/>
          </a:solidFill>
          <a:ln w="10160">
            <a:solidFill>
              <a:srgbClr val="A89DB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99008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577840" y="4187952"/>
            <a:ext cx="2377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AD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parties aligned and surface blockers before they become surprises.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9144000" y="2788920"/>
            <a:ext cx="621792" cy="621792"/>
          </a:xfrm>
          <a:prstGeom prst="ellipse">
            <a:avLst/>
          </a:prstGeom>
          <a:solidFill>
            <a:srgbClr val="0B1224"/>
          </a:solidFill>
          <a:ln w="10160">
            <a:solidFill>
              <a:srgbClr val="A89D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0" y="299008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4108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75320" y="4187952"/>
            <a:ext cx="2377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AD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progress into executive visibility and next decisions.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685800" y="5669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matters. Explain it clearly. Recommend a path. Keep it moving.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CADENCE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71323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visibility without local overwhelm.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85800" y="1627632"/>
            <a:ext cx="5120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 updates should make decisions easier — not create more reading for HQ.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" y="2148840"/>
            <a:ext cx="1078992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DED4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5877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counsel confirmed two viable contracting paths.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10712" y="2560320"/>
            <a:ext cx="0" cy="1691640"/>
          </a:xfrm>
          <a:prstGeom prst="line">
            <a:avLst/>
          </a:prstGeom>
          <a:noFill/>
          <a:ln w="8890">
            <a:solidFill>
              <a:srgbClr val="EE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25877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11880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moves faster but creates earlier compliance obligations.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16752" y="2560320"/>
            <a:ext cx="0" cy="1691640"/>
          </a:xfrm>
          <a:prstGeom prst="line">
            <a:avLst/>
          </a:prstGeom>
          <a:noFill/>
          <a:ln w="8890">
            <a:solidFill>
              <a:srgbClr val="EEE6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25877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17920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evaluating Option B before committing to the entity sequence.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622792" y="2560320"/>
            <a:ext cx="0" cy="1691640"/>
          </a:xfrm>
          <a:prstGeom prst="line">
            <a:avLst/>
          </a:prstGeom>
          <a:noFill/>
          <a:ln w="8890">
            <a:solidFill>
              <a:srgbClr val="EEE6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25877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23960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 to confirm tax timing and return with a recommended path.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5800" y="5074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sees what changed, why it matters, what Lurio recommends and what happens next.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er/Lurio_Operational_Assets_v1.0/_assets/Lurio_wordmar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029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TO BELIEVE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685800" y="7132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clients choose Lurio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1691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business understanding</a:t>
            </a:r>
            <a:endParaRPr lang="en-US" sz="1070" dirty="0"/>
          </a:p>
        </p:txBody>
      </p:sp>
      <p:sp>
        <p:nvSpPr>
          <p:cNvPr id="6" name="Shape 3"/>
          <p:cNvSpPr/>
          <p:nvPr/>
        </p:nvSpPr>
        <p:spPr>
          <a:xfrm>
            <a:off x="685800" y="1783080"/>
            <a:ext cx="73152" cy="0"/>
          </a:xfrm>
          <a:prstGeom prst="line">
            <a:avLst/>
          </a:prstGeom>
          <a:noFill/>
          <a:ln w="17780">
            <a:solidFill>
              <a:srgbClr val="5B3F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relationships and specialist network</a:t>
            </a:r>
            <a:endParaRPr lang="en-US" sz="1070" dirty="0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73152" cy="0"/>
          </a:xfrm>
          <a:prstGeom prst="line">
            <a:avLst/>
          </a:prstGeom>
          <a:noFill/>
          <a:ln w="17780">
            <a:solidFill>
              <a:srgbClr val="5B3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514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client-side perspective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685800" y="2606040"/>
            <a:ext cx="73152" cy="0"/>
          </a:xfrm>
          <a:prstGeom prst="line">
            <a:avLst/>
          </a:prstGeom>
          <a:noFill/>
          <a:ln w="17780">
            <a:solidFill>
              <a:srgbClr val="5B3F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9260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accountability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685800" y="3017520"/>
            <a:ext cx="73152" cy="0"/>
          </a:xfrm>
          <a:prstGeom prst="line">
            <a:avLst/>
          </a:prstGeom>
          <a:noFill/>
          <a:ln w="17780">
            <a:solidFill>
              <a:srgbClr val="5B3F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337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and methodology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685800" y="3429000"/>
            <a:ext cx="73152" cy="0"/>
          </a:xfrm>
          <a:prstGeom prst="line">
            <a:avLst/>
          </a:prstGeom>
          <a:noFill/>
          <a:ln w="17780">
            <a:solidFill>
              <a:srgbClr val="5B3F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141732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5B3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 enough to advise.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5B3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Resourceful enough to figure things out.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5B3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enough to feel like part of your team.</a:t>
            </a:r>
            <a:endParaRPr lang="en-US" sz="2800" dirty="0"/>
          </a:p>
        </p:txBody>
      </p:sp>
      <p:pic>
        <p:nvPicPr>
          <p:cNvPr id="16" name="Image 1" descr="/mnt/data/lurio_v2_assets/hero_architecture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251960"/>
            <a:ext cx="4663440" cy="1325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18" name="Shape 14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A89DB1">
                <a:alpha val="7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rio_v2_assets/hero_architecture_s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B1224"/>
          </a:solidFill>
          <a:ln w="12700">
            <a:solidFill>
              <a:srgbClr val="0B1224">
                <a:alpha val="0"/>
              </a:srgbClr>
            </a:solidFill>
            <a:prstDash val="solid"/>
          </a:ln>
        </p:spPr>
      </p:sp>
      <p:pic>
        <p:nvPicPr>
          <p:cNvPr id="4" name="Image 1" descr="/mnt/data/oper/Lurio_Operational_Assets_v1.0/_assets/Lurio_wordmark_rever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20040"/>
            <a:ext cx="105156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9202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 your</a:t>
            </a:r>
            <a:endParaRPr lang="en-US" sz="3700" dirty="0"/>
          </a:p>
          <a:p>
            <a:pPr indent="0" marL="0">
              <a:buNone/>
            </a:pPr>
            <a:r>
              <a:rPr lang="en-US" sz="3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Colombia</a:t>
            </a:r>
            <a:endParaRPr lang="en-US" sz="3700" dirty="0"/>
          </a:p>
          <a:p>
            <a:pPr indent="0" marL="0">
              <a:buNone/>
            </a:pPr>
            <a:r>
              <a:rPr lang="en-US" sz="3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expansion.</a:t>
            </a:r>
            <a:endParaRPr lang="en-US" sz="3700" dirty="0"/>
          </a:p>
        </p:txBody>
      </p:sp>
      <p:sp>
        <p:nvSpPr>
          <p:cNvPr id="6" name="Text 2"/>
          <p:cNvSpPr/>
          <p:nvPr/>
        </p:nvSpPr>
        <p:spPr>
          <a:xfrm>
            <a:off x="685800" y="4983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9D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lurio.co  ·  hello@lurio.co</a:t>
            </a:r>
            <a:endParaRPr lang="en-US" sz="1080" dirty="0"/>
          </a:p>
        </p:txBody>
      </p:sp>
      <p:sp>
        <p:nvSpPr>
          <p:cNvPr id="7" name="Shape 3"/>
          <p:cNvSpPr/>
          <p:nvPr/>
        </p:nvSpPr>
        <p:spPr>
          <a:xfrm>
            <a:off x="685800" y="5852160"/>
            <a:ext cx="621792" cy="0"/>
          </a:xfrm>
          <a:prstGeom prst="line">
            <a:avLst/>
          </a:prstGeom>
          <a:noFill/>
          <a:ln w="13970">
            <a:solidFill>
              <a:srgbClr val="A89DB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0352" y="65105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550" dirty="0"/>
          </a:p>
        </p:txBody>
      </p:sp>
      <p:sp>
        <p:nvSpPr>
          <p:cNvPr id="9" name="Shape 5"/>
          <p:cNvSpPr/>
          <p:nvPr/>
        </p:nvSpPr>
        <p:spPr>
          <a:xfrm>
            <a:off x="1143000" y="6569964"/>
            <a:ext cx="502920" cy="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378440" y="6501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Lurio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Lurio Pitch Deck v2</dc:title>
  <dc:subject>Lurio Pitch Deck v2</dc:subject>
  <dc:creator>Lurio</dc:creator>
  <cp:lastModifiedBy>Lurio</cp:lastModifiedBy>
  <cp:revision>1</cp:revision>
  <dcterms:created xsi:type="dcterms:W3CDTF">2026-09-22T20:13:43Z</dcterms:created>
  <dcterms:modified xsi:type="dcterms:W3CDTF">2026-09-22T20:13:43Z</dcterms:modified>
</cp:coreProperties>
</file>